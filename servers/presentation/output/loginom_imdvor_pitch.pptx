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20640"/>
            <a:ext cx="12192000" cy="1737360"/>
          </a:xfrm>
          <a:prstGeom prst="rect">
            <a:avLst/>
          </a:prstGeom>
          <a:solidFill>
            <a:srgbClr val="252B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B0"/>
                </a:solidFill>
              </a:rPr>
              <a:t>КОММЕРЧЕСКОЕ ПРЕДЛОЖЕНИЕ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для ООО «Императорский монетный двор»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BA3B0"/>
                </a:solidFill>
              </a:rPr>
              <a:t>Коллекционный ритейл / e-commerce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10058400" cy="36576"/>
          </a:xfrm>
          <a:prstGeom prst="rect">
            <a:avLst/>
          </a:prstGeom>
          <a:solidFill>
            <a:srgbClr val="252B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794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Loginom Company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251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B0"/>
                </a:solidFill>
              </a:rPr>
              <a:t>loginom.ru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0" y="3794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BA3B0"/>
                </a:solidFill>
              </a:rPr>
              <a:t>4 июня 2026 г.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Понимание задачи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312A"/>
                </a:solidFill>
              </a:rPr>
              <a:t>Запрос клиента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5303520" cy="201168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Демонстрация возможностей сегментации клиентской базы и анализа клиентского поведения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3657600"/>
            <a:ext cx="3575304" cy="347472"/>
          </a:xfrm>
          <a:prstGeom prst="rect">
            <a:avLst/>
          </a:prstGeom>
          <a:solidFill>
            <a:srgbClr val="F4F5F7"/>
          </a:solidFill>
          <a:ln w="12700">
            <a:solidFill>
              <a:srgbClr val="D431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3694176"/>
            <a:ext cx="3392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312A"/>
                </a:solidFill>
              </a:rPr>
              <a:t>Бюджет: По результатам демо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30168" y="3657600"/>
            <a:ext cx="3099816" cy="347472"/>
          </a:xfrm>
          <a:prstGeom prst="rect">
            <a:avLst/>
          </a:prstGeom>
          <a:solidFill>
            <a:srgbClr val="F4F5F7"/>
          </a:solidFill>
          <a:ln w="12700">
            <a:solidFill>
              <a:srgbClr val="D431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39896" y="3694176"/>
            <a:ext cx="2916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312A"/>
                </a:solidFill>
              </a:rPr>
              <a:t>Срок: По договорённости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0" y="11430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312A"/>
                </a:solidFill>
              </a:rPr>
              <a:t>Контекст и боль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150876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Интернет-магазин коллекционных монет и медалей располагает значительной клиентской базой с разнородным покупательским поведением: одни клиенты совершают повторные покупки регулярно, другие уходят после первой транзакции. Без инструментов автоматической сегментации и предиктивной аналитики маркетинговые коммуникации осуществляются «на всю базу», что ведёт к высоким затратам при низкой конверсии и упущенной выручке.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29718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3"/>
                </a:solidFill>
              </a:rPr>
              <a:t>Что будет, если не решить: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337560"/>
            <a:ext cx="320040" cy="320040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333756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Маркетинговый бюджет расходуется неэффективно — одинаковые предложения уходят VIP-покупателям и разовым клиентам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995928"/>
            <a:ext cx="320040" cy="320040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3995928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Отток лояльных клиентов не отслеживается заблаговременно, теряется выручка от повторных покупок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4654296"/>
            <a:ext cx="320040" cy="320040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4654296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Невозможно определить оптимальный момент и тип предложения для каждого сегмента коллекционеров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Предлагаемое решение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4114800" cy="585216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0"/>
            <a:ext cx="1645920" cy="54864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5087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312A"/>
                </a:solidFill>
              </a:rPr>
              <a:t>Концепция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33832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0C6D0"/>
                </a:solidFill>
              </a:rPr>
              <a:t>Построить на платформе Loginom систему клиентской аналитики: автоматический сбор и консолидация данных из CRM и интернет-магазина, RFM-сегментация клиентской базы с визуализацией в дашборде, модели прогнозирования оттока и вероятности следующей покупки, рекомендации по персонализированным маркетинговым коммуникациям для каждого сегмента. Low-code подход обеспечивает быстрый запуск и возможность самостоятельной настройки моделей маркетологами без привлечения IT.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115568"/>
            <a:ext cx="3621024" cy="2706624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115568"/>
            <a:ext cx="3621024" cy="64008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2801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312A"/>
                </a:solidFill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49240" y="1280160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3"/>
                </a:solidFill>
              </a:rPr>
              <a:t>Подключение источников данных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1920240"/>
            <a:ext cx="3255264" cy="1746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433"/>
                </a:solidFill>
              </a:rPr>
              <a:t>Интеграция с CRM, интернет-магазином imdvor.ru и 1С. Настройка автоматической загрузки транзакционных данных и данных о клиентах в платформу Loginom.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0456" y="1115568"/>
            <a:ext cx="3621024" cy="2706624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0456" y="1115568"/>
            <a:ext cx="3621024" cy="64008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15" name="Text 13"/>
          <p:cNvSpPr/>
          <p:nvPr/>
        </p:nvSpPr>
        <p:spPr>
          <a:xfrm>
            <a:off x="8403336" y="12801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312A"/>
                </a:solidFill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34856" y="1280160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3"/>
                </a:solidFill>
              </a:rPr>
              <a:t>RFM-сегментация и дашборд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03336" y="1920240"/>
            <a:ext cx="3255264" cy="1746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433"/>
                </a:solidFill>
              </a:rPr>
              <a:t>Реализация автоматической сегментации клиентов по частоте, давности и сумме покупок. Визуальный дашборд с актуальным срезом клиентской базы по сегментам.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34840" y="3986784"/>
            <a:ext cx="3621024" cy="2706624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0" y="3986784"/>
            <a:ext cx="3621024" cy="64008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4151376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312A"/>
                </a:solidFill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49240" y="4151376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3"/>
                </a:solidFill>
              </a:rPr>
              <a:t>Предиктивные модели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17720" y="4791456"/>
            <a:ext cx="3255264" cy="1746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433"/>
                </a:solidFill>
              </a:rPr>
              <a:t>Обучение моделей прогнозирования оттока и вероятности следующей покупки. Автоматические списки клиентов для целевых маркетинговых кампаний.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0456" y="3986784"/>
            <a:ext cx="3621024" cy="2706624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0456" y="3986784"/>
            <a:ext cx="3621024" cy="64008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25" name="Text 23"/>
          <p:cNvSpPr/>
          <p:nvPr/>
        </p:nvSpPr>
        <p:spPr>
          <a:xfrm>
            <a:off x="8403336" y="4151376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312A"/>
                </a:solidFill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34856" y="4151376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3"/>
                </a:solidFill>
              </a:rPr>
              <a:t>Интеграция с маркетингом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03336" y="4791456"/>
            <a:ext cx="3255264" cy="1746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433"/>
                </a:solidFill>
              </a:rPr>
              <a:t>Передача сегментов и рекомендаций в email-сервис или CRM для автоматического запуска персонализированных коммуникаций. Мониторинг эффективности кампаний.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Почему Loginom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12192000" cy="585216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112471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64008" cy="987552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7" name="Shape 5"/>
          <p:cNvSpPr/>
          <p:nvPr/>
        </p:nvSpPr>
        <p:spPr>
          <a:xfrm>
            <a:off x="704088" y="1362456"/>
            <a:ext cx="640080" cy="64008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36245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312A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271016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</a:rPr>
              <a:t>Loginom имеет готовое решение «Сегментация клиентов» — точное попадание в запрос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112471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86000"/>
            <a:ext cx="64008" cy="987552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12" name="Shape 10"/>
          <p:cNvSpPr/>
          <p:nvPr/>
        </p:nvSpPr>
        <p:spPr>
          <a:xfrm>
            <a:off x="704088" y="2459736"/>
            <a:ext cx="640080" cy="64008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45973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312A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2368296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</a:rPr>
              <a:t>Встроенные алгоритмы анализа поведения, кросс-продаж и директ-маркетинга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112471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383280"/>
            <a:ext cx="64008" cy="987552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17" name="Shape 15"/>
          <p:cNvSpPr/>
          <p:nvPr/>
        </p:nvSpPr>
        <p:spPr>
          <a:xfrm>
            <a:off x="704088" y="3557016"/>
            <a:ext cx="640080" cy="64008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355701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312A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3465576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</a:rPr>
              <a:t>Интеграция с CRM, интернет-магазином и 1С без программирования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480560"/>
            <a:ext cx="112471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480560"/>
            <a:ext cx="64008" cy="987552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088" y="4654296"/>
            <a:ext cx="640080" cy="64008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465429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312A"/>
                </a:solidFill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08760" y="4562856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</a:rPr>
              <a:t>Готовые решения по противодействию оттоку и оптимизации цен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5577840"/>
            <a:ext cx="112471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5577840"/>
            <a:ext cx="64008" cy="987552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27" name="Shape 25"/>
          <p:cNvSpPr/>
          <p:nvPr/>
        </p:nvSpPr>
        <p:spPr>
          <a:xfrm>
            <a:off x="704088" y="5751576"/>
            <a:ext cx="640080" cy="64008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28" name="Text 26"/>
          <p:cNvSpPr/>
          <p:nvPr/>
        </p:nvSpPr>
        <p:spPr>
          <a:xfrm>
            <a:off x="704088" y="57515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312A"/>
                </a:solidFill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08760" y="5660136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</a:rPr>
              <a:t>30-летний опыт и кейсы в ритейле: Х5 Retail Group, Ситилинк, lady &amp; gentleman CITY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Наш опыт в вашей отрасли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566160" cy="5029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3566160" cy="50292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155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Х5 Retail Group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Внедрение аналитической системы управления клиентской базой и сегментации покупателей крупнейшего ритейлера России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4663440"/>
            <a:ext cx="3566160" cy="36576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312A"/>
                </a:solidFill>
              </a:rPr>
              <a:t>Результат: Повышение точности таргетинга маркетинговых кампаний и рост повторных покупок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60520" y="1097280"/>
            <a:ext cx="3566160" cy="5029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0520" y="1097280"/>
            <a:ext cx="3566160" cy="50292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11155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Ситилинк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0" y="173736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Построение системы анализа клиентского поведения и предиктивной аналитики для интернет-ритейла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4663440"/>
            <a:ext cx="3566160" cy="36576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47548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312A"/>
                </a:solidFill>
              </a:rPr>
              <a:t>Результат: Оптимизация маркетинговых коммуникаций и снижение оттока покупателей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5280" y="1097280"/>
            <a:ext cx="3566160" cy="5029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1097280"/>
            <a:ext cx="3566160" cy="50292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11155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lady &amp; gentleman CITY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92440" y="173736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Сегментация клиентской базы и персонализация предложений для нишевого fashion-ритейла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5280" y="4663440"/>
            <a:ext cx="3566160" cy="36576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21" name="Text 19"/>
          <p:cNvSpPr/>
          <p:nvPr/>
        </p:nvSpPr>
        <p:spPr>
          <a:xfrm>
            <a:off x="8092440" y="47548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312A"/>
                </a:solidFill>
              </a:rPr>
              <a:t>Результат: Рост конверсии повторных покупок через персонализированные коммуникации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О компании Loginom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4114800" cy="585216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0"/>
            <a:ext cx="1645920" cy="54864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5087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312A"/>
                </a:solidFill>
              </a:rPr>
              <a:t>Ключевые факты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30+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27614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2"/>
                </a:solidFill>
              </a:rPr>
              <a:t>Лет на рынке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3154680"/>
            <a:ext cx="2926080" cy="27432"/>
          </a:xfrm>
          <a:prstGeom prst="rect">
            <a:avLst/>
          </a:prstGeom>
          <a:solidFill>
            <a:srgbClr val="2A3144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24612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500+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5760" y="39044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2"/>
                </a:solidFill>
              </a:rPr>
              <a:t>Клиентов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4297680"/>
            <a:ext cx="2926080" cy="27432"/>
          </a:xfrm>
          <a:prstGeom prst="rect">
            <a:avLst/>
          </a:prstGeom>
          <a:solidFill>
            <a:srgbClr val="2A3144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438912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20+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65760" y="50474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2"/>
                </a:solidFill>
              </a:rPr>
              <a:t>Партнёров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5440680"/>
            <a:ext cx="2926080" cy="27432"/>
          </a:xfrm>
          <a:prstGeom prst="rect">
            <a:avLst/>
          </a:prstGeom>
          <a:solidFill>
            <a:srgbClr val="2A3144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553212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с 2018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65760" y="61904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2"/>
                </a:solidFill>
              </a:rPr>
              <a:t>Лет в реестре РФ ПО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43400" y="1097280"/>
            <a:ext cx="7498080" cy="557784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280160"/>
            <a:ext cx="6949440" cy="521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E2433"/>
                </a:solidFill>
              </a:rPr>
              <a:t>Loginom Company (ООО «Аналитические технологии») — профессиональный разработчик продуктов и решений в области анализа данных, основанный в 1995 году. За 30 лет компания прошла путь от заказной разработки до enterprise-вендора аналитических платформ. Ключевой продукт — low-code аналитическая платформа Loginom, внесённая в реестр российского ПО. Компания специализируется на ETL, сегментации клиентов, предиктивной аналитике и автоматизации бизнес-процессов. Среди клиентов — крупнейшие банки, ритейлеры и промышленные предприятия России.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Следующие шаги и контакты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685800" cy="68580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23444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</a:rPr>
              <a:t>Ответный звонок для уточнения деталей задачи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685800" cy="68580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194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224028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</a:rPr>
              <a:t>Подготовка технического предложения (2 недели)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200400"/>
            <a:ext cx="685800" cy="68580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200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34440" y="32461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</a:rPr>
              <a:t>Согласование условий и подписание договора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4206240"/>
            <a:ext cx="685800" cy="68580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4206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34440" y="42519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</a:rPr>
              <a:t>Старт проекта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503920" y="1188720"/>
            <a:ext cx="3383280" cy="393192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0" y="1417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Loginom Company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0" y="210312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B0"/>
                </a:solidFill>
              </a:rPr>
              <a:t>sales@loginom.ru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A3B0"/>
                </a:solidFill>
              </a:rPr>
              <a:t>+7 (383) 206-09-40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A3B0"/>
                </a:solidFill>
              </a:rPr>
              <a:t>loginom.ru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86800" y="3749040"/>
            <a:ext cx="2834640" cy="27432"/>
          </a:xfrm>
          <a:prstGeom prst="rect">
            <a:avLst/>
          </a:prstGeom>
          <a:solidFill>
            <a:srgbClr val="252B3B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0" y="38862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</a:rPr>
              <a:t>Подготовлено для: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</a:rPr>
              <a:t>Зинченко Роман Юрьевич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</a:rPr>
              <a:t>rzinchenko@imdvor.ru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2026-06-04T09:14:37Z</dcterms:created>
  <dcterms:modified xsi:type="dcterms:W3CDTF">2026-06-04T09:14:37Z</dcterms:modified>
</cp:coreProperties>
</file>