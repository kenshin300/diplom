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120640"/>
            <a:ext cx="12192000" cy="1737360"/>
          </a:xfrm>
          <a:prstGeom prst="rect">
            <a:avLst/>
          </a:prstGeom>
          <a:solidFill>
            <a:srgbClr val="252B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7315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BA3B0"/>
                </a:solidFill>
              </a:rPr>
              <a:t>КОММЕРЧЕСКОЕ ПРЕДЛОЖЕНИЕ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для ООО «Императорский монетный двор»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9BA3B0"/>
                </a:solidFill>
              </a:rPr>
              <a:t>Коллекционные товары / e-commerce / DTC-ритейл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3611880"/>
            <a:ext cx="10058400" cy="36576"/>
          </a:xfrm>
          <a:prstGeom prst="rect">
            <a:avLst/>
          </a:prstGeom>
          <a:solidFill>
            <a:srgbClr val="252B3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7947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Loginom Company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42519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A3B0"/>
                </a:solidFill>
              </a:rPr>
              <a:t>loginom.ru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0" y="37947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BA3B0"/>
                </a:solidFill>
              </a:rPr>
              <a:t>12 мая 2026 г.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Понимание задачи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1430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312A"/>
                </a:solidFill>
              </a:rPr>
              <a:t>Запрос клиента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5303520" cy="2011680"/>
          </a:xfrm>
          <a:prstGeom prst="rect">
            <a:avLst/>
          </a:prstGeom>
          <a:solidFill>
            <a:srgbClr val="F4F5F7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00200"/>
            <a:ext cx="4937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433"/>
                </a:solidFill>
              </a:rPr>
              <a:t>Запрос демонстрации функционала сегментации клиентской базы и анализа клиентского поведения. Клиент работает с несколькими миллионами покупателей монет и медалей из драгоценных металлов.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3657600"/>
            <a:ext cx="2505456" cy="347472"/>
          </a:xfrm>
          <a:prstGeom prst="rect">
            <a:avLst/>
          </a:prstGeom>
          <a:solidFill>
            <a:srgbClr val="F4F5F7"/>
          </a:solidFill>
          <a:ln w="12700">
            <a:solidFill>
              <a:srgbClr val="D431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3694176"/>
            <a:ext cx="2322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312A"/>
                </a:solidFill>
              </a:rPr>
              <a:t>Бюджет: Уточняется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60320" y="3657600"/>
            <a:ext cx="2267712" cy="347472"/>
          </a:xfrm>
          <a:prstGeom prst="rect">
            <a:avLst/>
          </a:prstGeom>
          <a:solidFill>
            <a:srgbClr val="F4F5F7"/>
          </a:solidFill>
          <a:ln w="12700">
            <a:solidFill>
              <a:srgbClr val="D431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70048" y="3694176"/>
            <a:ext cx="2084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312A"/>
                </a:solidFill>
              </a:rPr>
              <a:t>Срок: Уточняется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217920" y="114300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312A"/>
                </a:solidFill>
              </a:rPr>
              <a:t>Контекст и боль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217920" y="1508760"/>
            <a:ext cx="5760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433"/>
                </a:solidFill>
              </a:rPr>
              <a:t>Компания ведёт продажи нескольким миллионам клиентов через интернет-магазин. При таком масштабе клиентской базы ручная сегментация в Excel физически невозможна: данные разрознены, обновляются постоянно, а маркетинговые решения принимаются с запозданием. Коллекционный рынок требует персонализированных коммуникаций — покупатель серебра не интересуется золотом, любитель орденов не станет клиентом коллекции монет. Без сегментации все покупатели получают одинаковые рассылки, эффективность которых минимальна.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17920" y="297180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433"/>
                </a:solidFill>
              </a:rPr>
              <a:t>Что будет, если не решить: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3337560"/>
            <a:ext cx="320040" cy="320040"/>
          </a:xfrm>
          <a:prstGeom prst="rect">
            <a:avLst/>
          </a:prstGeom>
          <a:solidFill>
            <a:srgbClr val="D4312A"/>
          </a:solidFill>
          <a:ln/>
        </p:spPr>
      </p:sp>
      <p:sp>
        <p:nvSpPr>
          <p:cNvPr id="15" name="Text 13"/>
          <p:cNvSpPr/>
          <p:nvPr/>
        </p:nvSpPr>
        <p:spPr>
          <a:xfrm>
            <a:off x="6629400" y="3337560"/>
            <a:ext cx="5349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433"/>
                </a:solidFill>
              </a:rPr>
              <a:t>Маркетинг работает «в слепую»: нет понимания, кто является лояльным клиентом, а кто — уходящим, что приводит к потере выручки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3995928"/>
            <a:ext cx="320040" cy="320040"/>
          </a:xfrm>
          <a:prstGeom prst="rect">
            <a:avLst/>
          </a:prstGeom>
          <a:solidFill>
            <a:srgbClr val="D4312A"/>
          </a:solidFill>
          <a:ln/>
        </p:spPr>
      </p:sp>
      <p:sp>
        <p:nvSpPr>
          <p:cNvPr id="17" name="Text 15"/>
          <p:cNvSpPr/>
          <p:nvPr/>
        </p:nvSpPr>
        <p:spPr>
          <a:xfrm>
            <a:off x="6629400" y="3995928"/>
            <a:ext cx="5349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433"/>
                </a:solidFill>
              </a:rPr>
              <a:t>Одинаковые коммуникации для всех клиентов снижают конверсию и увеличивают отписки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0" y="4654296"/>
            <a:ext cx="320040" cy="320040"/>
          </a:xfrm>
          <a:prstGeom prst="rect">
            <a:avLst/>
          </a:prstGeom>
          <a:solidFill>
            <a:srgbClr val="D4312A"/>
          </a:solidFill>
          <a:ln/>
        </p:spPr>
      </p:sp>
      <p:sp>
        <p:nvSpPr>
          <p:cNvPr id="19" name="Text 17"/>
          <p:cNvSpPr/>
          <p:nvPr/>
        </p:nvSpPr>
        <p:spPr>
          <a:xfrm>
            <a:off x="6629400" y="4654296"/>
            <a:ext cx="5349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433"/>
                </a:solidFill>
              </a:rPr>
              <a:t>Невозможно заблаговременно выявить клиентов на грани оттока и запустить удержание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Предлагаемое решение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11430000" cy="5029200"/>
          </a:xfrm>
          <a:prstGeom prst="rect">
            <a:avLst/>
          </a:prstGeom>
          <a:solidFill>
            <a:srgbClr val="F4F5F7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80160"/>
            <a:ext cx="10972800" cy="466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E2433"/>
                </a:solidFill>
              </a:rPr>
              <a:t>Внедрение аналитического модуля на базе Loginom: подключение к транзакционным данным интернет-магазина (CRM, БД заказов), RFM-сегментация клиентов (Recency, Frequency, Monetary), анализ поведенческих паттернов — жизненный цикл, предпочтения по коллекциям и категориям. Модель вероятности оттока и рекомендательный движок для триггерных коммуникаций. Результат публикуется как API-сервис или дашборд для маркетинговой команды без участия IT.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Почему Loginom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55778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411480" cy="1005840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188720"/>
            <a:ext cx="411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1280160"/>
            <a:ext cx="4892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433"/>
                </a:solidFill>
              </a:rPr>
              <a:t>Готовое решение «Сегментация клиентов» в маркетплейсе Loginom — быстрый старт без разработки с нуля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377440"/>
            <a:ext cx="55778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2377440"/>
            <a:ext cx="411480" cy="1005840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2377440"/>
            <a:ext cx="411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2468880"/>
            <a:ext cx="4892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433"/>
                </a:solidFill>
              </a:rPr>
              <a:t>Полный CRM-аналитический стек: анализ поведения, директ-маркетинг, противодействие оттоку, кросс-продажи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3566160"/>
            <a:ext cx="55778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3566160"/>
            <a:ext cx="411480" cy="1005840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3566160"/>
            <a:ext cx="411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14400" y="3657600"/>
            <a:ext cx="4892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433"/>
                </a:solidFill>
              </a:rPr>
              <a:t>Крупные ритейлеры (X5 Retail Group, Ситилинк, Hoff, Лэтуаль) уже решают аналогичные задачи на Loginom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0" y="1188720"/>
            <a:ext cx="55778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1188720"/>
            <a:ext cx="411480" cy="1005840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1188720"/>
            <a:ext cx="411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949440" y="1280160"/>
            <a:ext cx="4892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433"/>
                </a:solidFill>
              </a:rPr>
              <a:t>Low-code: маркетинговые аналитики строят и обновляют сегменты самостоятельно, без IT-департамента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0" y="2377440"/>
            <a:ext cx="55778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0" y="2377440"/>
            <a:ext cx="411480" cy="1005840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0" y="2377440"/>
            <a:ext cx="411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949440" y="2468880"/>
            <a:ext cx="4892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433"/>
                </a:solidFill>
              </a:rPr>
              <a:t>Российская платформа, включена в реестр отечественного ПО — без рисков импортозамещения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Наш опыт в вашей отрасли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3566160" cy="5029200"/>
          </a:xfrm>
          <a:prstGeom prst="rect">
            <a:avLst/>
          </a:prstGeom>
          <a:solidFill>
            <a:srgbClr val="F4F5F7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3566160" cy="502920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11556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X5 Retail Group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737360"/>
            <a:ext cx="32918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433"/>
                </a:solidFill>
              </a:rPr>
              <a:t>Построение системы анализа покупательского поведения и сегментации для крупнейшего ритейлера России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4663440"/>
            <a:ext cx="3566160" cy="36576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475488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312A"/>
                </a:solidFill>
              </a:rPr>
              <a:t>Результат: Автоматизированная CRM-аналитика на миллионах транзакций, персонализированные предложения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60520" y="1097280"/>
            <a:ext cx="3566160" cy="5029200"/>
          </a:xfrm>
          <a:prstGeom prst="rect">
            <a:avLst/>
          </a:prstGeom>
          <a:solidFill>
            <a:srgbClr val="F4F5F7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60520" y="1097280"/>
            <a:ext cx="3566160" cy="502920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12" name="Text 10"/>
          <p:cNvSpPr/>
          <p:nvPr/>
        </p:nvSpPr>
        <p:spPr>
          <a:xfrm>
            <a:off x="4297680" y="111556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Лэтуаль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297680" y="1737360"/>
            <a:ext cx="32918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433"/>
                </a:solidFill>
              </a:rPr>
              <a:t>Анализ клиентской базы и поведения покупателей косметики и парфюмерии в сети более 150 брендов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60520" y="4663440"/>
            <a:ext cx="3566160" cy="36576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15" name="Text 13"/>
          <p:cNvSpPr/>
          <p:nvPr/>
        </p:nvSpPr>
        <p:spPr>
          <a:xfrm>
            <a:off x="4297680" y="475488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312A"/>
                </a:solidFill>
              </a:rPr>
              <a:t>Результат: Сегментация клиентов и таргетированные коммуникации для роста повторных покупок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955280" y="1097280"/>
            <a:ext cx="3566160" cy="5029200"/>
          </a:xfrm>
          <a:prstGeom prst="rect">
            <a:avLst/>
          </a:prstGeom>
          <a:solidFill>
            <a:srgbClr val="F4F5F7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955280" y="1097280"/>
            <a:ext cx="3566160" cy="502920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18" name="Text 16"/>
          <p:cNvSpPr/>
          <p:nvPr/>
        </p:nvSpPr>
        <p:spPr>
          <a:xfrm>
            <a:off x="8092440" y="111556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Ситилинк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092440" y="1737360"/>
            <a:ext cx="32918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433"/>
                </a:solidFill>
              </a:rPr>
              <a:t>Внедрение аналитики клиентского поведения в e-commerce ритейле электроники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955280" y="4663440"/>
            <a:ext cx="3566160" cy="36576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21" name="Text 19"/>
          <p:cNvSpPr/>
          <p:nvPr/>
        </p:nvSpPr>
        <p:spPr>
          <a:xfrm>
            <a:off x="8092440" y="475488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312A"/>
                </a:solidFill>
              </a:rPr>
              <a:t>Результат: Выявление сегментов с риском оттока и запуск удерживающих кампаний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О компании Loginom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11430000" cy="5029200"/>
          </a:xfrm>
          <a:prstGeom prst="rect">
            <a:avLst/>
          </a:prstGeom>
          <a:solidFill>
            <a:srgbClr val="F4F5F7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80160"/>
            <a:ext cx="10972800" cy="466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E2433"/>
                </a:solidFill>
              </a:rPr>
              <a:t>Loginom Company (ООО «Аналитические технологии») — российский разработчик аналитической low-code платформы Loginom с 30-летней историей (основана в 1995 году, г. Рязань). Платформа включена в реестр российского ПО. Среди клиентов — крупнейшие банки, ритейлеры, страховые и промышленные компании: Сбербанк, X5 Retail Group, ВТБ, Балтика, Интер РАО и др. Платформа охватывает полный цикл работы с данными: интеграция, очистка, моделирование, прогнозирование, визуализация и публикация сервисов.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Следующие шаги и контакты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685800" cy="685800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1887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34440" y="123444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433"/>
                </a:solidFill>
              </a:rPr>
              <a:t>Ответный звонок для уточнения деталей задачи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194560"/>
            <a:ext cx="685800" cy="685800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21945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234440" y="224028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433"/>
                </a:solidFill>
              </a:rPr>
              <a:t>Подготовка технического предложения (2 недели)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3200400"/>
            <a:ext cx="685800" cy="685800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32004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234440" y="324612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433"/>
                </a:solidFill>
              </a:rPr>
              <a:t>Согласование условий и подписание договора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4206240"/>
            <a:ext cx="685800" cy="685800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42062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234440" y="425196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433"/>
                </a:solidFill>
              </a:rPr>
              <a:t>Старт проекта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503920" y="1188720"/>
            <a:ext cx="3383280" cy="3931920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0" y="14173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Loginom Company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686800" y="2103120"/>
            <a:ext cx="3017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A3B0"/>
                </a:solidFill>
              </a:rPr>
              <a:t>sales@loginom.ru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BA3B0"/>
                </a:solidFill>
              </a:rPr>
              <a:t>+7 (383) 206-09-40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BA3B0"/>
                </a:solidFill>
              </a:rPr>
              <a:t>loginom.ru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686800" y="3749040"/>
            <a:ext cx="2834640" cy="27432"/>
          </a:xfrm>
          <a:prstGeom prst="rect">
            <a:avLst/>
          </a:prstGeom>
          <a:solidFill>
            <a:srgbClr val="252B3B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0" y="388620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B0"/>
                </a:solidFill>
              </a:rPr>
              <a:t>Подготовлено для: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BA3B0"/>
                </a:solidFill>
              </a:rPr>
              <a:t>Зинченко Роман Юрьевич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BA3B0"/>
                </a:solidFill>
              </a:rPr>
              <a:t>rzinchenko@imdvor.ru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2026-05-12T17:14:50Z</dcterms:created>
  <dcterms:modified xsi:type="dcterms:W3CDTF">2026-05-12T17:14:50Z</dcterms:modified>
</cp:coreProperties>
</file>