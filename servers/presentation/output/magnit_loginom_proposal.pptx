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120640"/>
            <a:ext cx="12192000" cy="1737360"/>
          </a:xfrm>
          <a:prstGeom prst="rect">
            <a:avLst/>
          </a:prstGeom>
          <a:solidFill>
            <a:srgbClr val="252B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7315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BA3B0"/>
                </a:solidFill>
              </a:rPr>
              <a:t>КОММЕРЧЕСКОЕ ПРЕДЛОЖЕНИЕ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для ПАО «Магнит»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40080" y="2926080"/>
            <a:ext cx="9144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9BA3B0"/>
                </a:solidFill>
              </a:rPr>
              <a:t>Розничная торговля (FMCG)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3611880"/>
            <a:ext cx="10058400" cy="36576"/>
          </a:xfrm>
          <a:prstGeom prst="rect">
            <a:avLst/>
          </a:prstGeom>
          <a:solidFill>
            <a:srgbClr val="252B3B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7947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Loginom Company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42519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A3B0"/>
                </a:solidFill>
              </a:rPr>
              <a:t>loginom.ru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0" y="37947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9BA3B0"/>
                </a:solidFill>
              </a:rPr>
              <a:t>12 мая 2026 г.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Понимание задачи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1430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312A"/>
                </a:solidFill>
              </a:rPr>
              <a:t>Запрос клиента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5303520" cy="2011680"/>
          </a:xfrm>
          <a:prstGeom prst="rect">
            <a:avLst/>
          </a:prstGeom>
          <a:solidFill>
            <a:srgbClr val="F4F5F7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00200"/>
            <a:ext cx="4937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433"/>
                </a:solidFill>
              </a:rPr>
              <a:t>Система автоматического прогнозирования спроса и оптимизации товарных остатков для сети из 29 000 магазинов. Цель — снизить списания скоропортящихся товаров и уменьшить out-of-stock по ключевым позициям. Старт — пилот на одном регионе.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3657600"/>
            <a:ext cx="2743200" cy="347472"/>
          </a:xfrm>
          <a:prstGeom prst="rect">
            <a:avLst/>
          </a:prstGeom>
          <a:solidFill>
            <a:srgbClr val="F4F5F7"/>
          </a:solidFill>
          <a:ln w="12700">
            <a:solidFill>
              <a:srgbClr val="D431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369417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312A"/>
                </a:solidFill>
              </a:rPr>
              <a:t>Бюджет: 5–8 млн руб.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98064" y="3657600"/>
            <a:ext cx="2267712" cy="347472"/>
          </a:xfrm>
          <a:prstGeom prst="rect">
            <a:avLst/>
          </a:prstGeom>
          <a:solidFill>
            <a:srgbClr val="F4F5F7"/>
          </a:solidFill>
          <a:ln w="12700">
            <a:solidFill>
              <a:srgbClr val="D431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07792" y="3694176"/>
            <a:ext cx="2084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312A"/>
                </a:solidFill>
              </a:rPr>
              <a:t>Срок: 10 месяцев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4114800"/>
            <a:ext cx="7616952" cy="347472"/>
          </a:xfrm>
          <a:prstGeom prst="rect">
            <a:avLst/>
          </a:prstGeom>
          <a:solidFill>
            <a:srgbClr val="F4F5F7"/>
          </a:solidFill>
          <a:ln w="12700">
            <a:solidFill>
              <a:srgbClr val="D431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4151376"/>
            <a:ext cx="74340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312A"/>
                </a:solidFill>
              </a:rPr>
              <a:t>Пилот на одном регионе, 3–5 категорий скоропортящихся товаров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17920" y="114300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312A"/>
                </a:solidFill>
              </a:rPr>
              <a:t>Контекст и боль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217920" y="1508760"/>
            <a:ext cx="5760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433"/>
                </a:solidFill>
              </a:rPr>
              <a:t>Крупные продуктовые сети сталкиваются с противоречием: избыток запасов по скоропортящимся товарам ведёт к списаниям, а дефицит — к out-of-stock и потере продаж. Традиционные методы планирования (Excel, простые правила) не учитывают сезонность, промоакции, погодные факторы и поведение покупателей. Для сети из 29 000 магазинов с тысячами SKU это невозможно решить без ML-прогнозирования и автоматизации.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17920" y="297180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433"/>
                </a:solidFill>
              </a:rPr>
              <a:t>Что будет, если не решить: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3337560"/>
            <a:ext cx="320040" cy="320040"/>
          </a:xfrm>
          <a:prstGeom prst="rect">
            <a:avLst/>
          </a:prstGeom>
          <a:solidFill>
            <a:srgbClr val="D4312A"/>
          </a:solidFill>
          <a:ln/>
        </p:spPr>
      </p:sp>
      <p:sp>
        <p:nvSpPr>
          <p:cNvPr id="17" name="Text 15"/>
          <p:cNvSpPr/>
          <p:nvPr/>
        </p:nvSpPr>
        <p:spPr>
          <a:xfrm>
            <a:off x="6629400" y="3337560"/>
            <a:ext cx="5349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433"/>
                </a:solidFill>
              </a:rPr>
              <a:t>Списания скоропортящихся товаров напрямую снижают маржинальность — при сети 29 000 магазинов даже 1% потерь составляет сотни миллионов рублей в год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17920" y="3995928"/>
            <a:ext cx="320040" cy="320040"/>
          </a:xfrm>
          <a:prstGeom prst="rect">
            <a:avLst/>
          </a:prstGeom>
          <a:solidFill>
            <a:srgbClr val="D4312A"/>
          </a:solidFill>
          <a:ln/>
        </p:spPr>
      </p:sp>
      <p:sp>
        <p:nvSpPr>
          <p:cNvPr id="19" name="Text 17"/>
          <p:cNvSpPr/>
          <p:nvPr/>
        </p:nvSpPr>
        <p:spPr>
          <a:xfrm>
            <a:off x="6629400" y="3995928"/>
            <a:ext cx="5349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433"/>
                </a:solidFill>
              </a:rPr>
              <a:t>Out-of-stock по ключевым позициям ведёт к потере выручки и лояльности покупателей, которые уходят к конкурентам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17920" y="4654296"/>
            <a:ext cx="320040" cy="320040"/>
          </a:xfrm>
          <a:prstGeom prst="rect">
            <a:avLst/>
          </a:prstGeom>
          <a:solidFill>
            <a:srgbClr val="D4312A"/>
          </a:solidFill>
          <a:ln/>
        </p:spPr>
      </p:sp>
      <p:sp>
        <p:nvSpPr>
          <p:cNvPr id="21" name="Text 19"/>
          <p:cNvSpPr/>
          <p:nvPr/>
        </p:nvSpPr>
        <p:spPr>
          <a:xfrm>
            <a:off x="6629400" y="4654296"/>
            <a:ext cx="5349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433"/>
                </a:solidFill>
              </a:rPr>
              <a:t>Ручное управление заказами не масштабируется: категорийным менеджерам физически невозможно контролировать тысячи SKU в десятках регионов одновременно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Предлагаемое решение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11430000" cy="5029200"/>
          </a:xfrm>
          <a:prstGeom prst="rect">
            <a:avLst/>
          </a:prstGeom>
          <a:solidFill>
            <a:srgbClr val="F4F5F7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80160"/>
            <a:ext cx="10972800" cy="466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E2433"/>
                </a:solidFill>
              </a:rPr>
              <a:t>ETL-слой для интеграции с кассовыми системами, WMS и ERP Магнита. ML-модели прогнозирования спроса (временные ряды, градиентный бустинг) с учётом сезонности, промоакций, дней недели и внешних факторов. Модуль оптимизации заказов с расчётом страховых запасов по категориям. Дашборд для категорийных менеджеров с алертами по отклонениям. Пилот охватывает один регион и 3–5 категорий скоропортящейся продукции с последующим масштабированием.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Почему Loginom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55778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411480" cy="1005840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188720"/>
            <a:ext cx="411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1280160"/>
            <a:ext cx="4892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433"/>
                </a:solidFill>
              </a:rPr>
              <a:t>Готовые прикладные решения по прогнозированию спроса и оптимизации запасов — не разработка с нуля, а адаптация проверенных модулей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377440"/>
            <a:ext cx="55778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2377440"/>
            <a:ext cx="411480" cy="1005840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2377440"/>
            <a:ext cx="411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2468880"/>
            <a:ext cx="4892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433"/>
                </a:solidFill>
              </a:rPr>
              <a:t>Платформа признана лидером ETL/ELT в исследовании «Круги Громова» — справляется с объёмами данных 29 000 магазинов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3566160"/>
            <a:ext cx="55778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3566160"/>
            <a:ext cx="411480" cy="1005840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3566160"/>
            <a:ext cx="411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14400" y="3657600"/>
            <a:ext cx="4892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433"/>
                </a:solidFill>
              </a:rPr>
              <a:t>Опыт в ритейле: среди клиентов Х5 Retail Group, Ситилинк, Черкизово, Hoff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0" y="1188720"/>
            <a:ext cx="55778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1188720"/>
            <a:ext cx="411480" cy="1005840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1188720"/>
            <a:ext cx="411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949440" y="1280160"/>
            <a:ext cx="4892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433"/>
                </a:solidFill>
              </a:rPr>
              <a:t>Low-code подход: быстрый старт пилота, прозрачная логика моделей для бизнес-пользователей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0" y="2377440"/>
            <a:ext cx="55778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0" y="2377440"/>
            <a:ext cx="411480" cy="1005840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0" y="2377440"/>
            <a:ext cx="411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949440" y="2468880"/>
            <a:ext cx="4892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433"/>
                </a:solidFill>
              </a:rPr>
              <a:t>Российское ПО в реестре ЕРРП — соответствует политике импортозамещения ПАО «Магнит»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Наш опыт в вашей отрасли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3566160" cy="5029200"/>
          </a:xfrm>
          <a:prstGeom prst="rect">
            <a:avLst/>
          </a:prstGeom>
          <a:solidFill>
            <a:srgbClr val="F4F5F7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97280"/>
            <a:ext cx="3566160" cy="502920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11556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Х5 Retail Group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737360"/>
            <a:ext cx="32918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433"/>
                </a:solidFill>
              </a:rPr>
              <a:t>Внедрение аналитической системы на платформе Loginom для обработки данных крупнейшей российской продуктовой сети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4663440"/>
            <a:ext cx="3566160" cy="36576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475488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312A"/>
                </a:solidFill>
              </a:rPr>
              <a:t>Результат: Автоматизация аналитических процессов, ускорение получения отчётности по сети магазинов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60520" y="1097280"/>
            <a:ext cx="3566160" cy="5029200"/>
          </a:xfrm>
          <a:prstGeom prst="rect">
            <a:avLst/>
          </a:prstGeom>
          <a:solidFill>
            <a:srgbClr val="F4F5F7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60520" y="1097280"/>
            <a:ext cx="3566160" cy="502920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12" name="Text 10"/>
          <p:cNvSpPr/>
          <p:nvPr/>
        </p:nvSpPr>
        <p:spPr>
          <a:xfrm>
            <a:off x="4297680" y="111556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Черкизово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297680" y="1737360"/>
            <a:ext cx="32918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433"/>
                </a:solidFill>
              </a:rPr>
              <a:t>Построение системы анализа данных для крупного производителя и дистрибьютора продуктов питания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60520" y="4663440"/>
            <a:ext cx="3566160" cy="36576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15" name="Text 13"/>
          <p:cNvSpPr/>
          <p:nvPr/>
        </p:nvSpPr>
        <p:spPr>
          <a:xfrm>
            <a:off x="4297680" y="475488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312A"/>
                </a:solidFill>
              </a:rPr>
              <a:t>Результат: Оптимизация цепочки поставок и повышение точности планирования производства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955280" y="1097280"/>
            <a:ext cx="3566160" cy="5029200"/>
          </a:xfrm>
          <a:prstGeom prst="rect">
            <a:avLst/>
          </a:prstGeom>
          <a:solidFill>
            <a:srgbClr val="F4F5F7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955280" y="1097280"/>
            <a:ext cx="3566160" cy="502920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18" name="Text 16"/>
          <p:cNvSpPr/>
          <p:nvPr/>
        </p:nvSpPr>
        <p:spPr>
          <a:xfrm>
            <a:off x="8092440" y="111556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Ситилинк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092440" y="1737360"/>
            <a:ext cx="32918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433"/>
                </a:solidFill>
              </a:rPr>
              <a:t>Аналитическая система для крупного ритейлера электроники с разветвлённой сетью магазинов и онлайн-каналом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955280" y="4663440"/>
            <a:ext cx="3566160" cy="36576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21" name="Text 19"/>
          <p:cNvSpPr/>
          <p:nvPr/>
        </p:nvSpPr>
        <p:spPr>
          <a:xfrm>
            <a:off x="8092440" y="4754880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312A"/>
                </a:solidFill>
              </a:rPr>
              <a:t>Результат: Улучшение управления товарными остатками и повышение эффективности закупок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О компании Loginom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11430000" cy="5029200"/>
          </a:xfrm>
          <a:prstGeom prst="rect">
            <a:avLst/>
          </a:prstGeom>
          <a:solidFill>
            <a:srgbClr val="F4F5F7"/>
          </a:solidFill>
          <a:ln w="12700">
            <a:solidFill>
              <a:srgbClr val="E2E5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80160"/>
            <a:ext cx="10972800" cy="466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1E2433"/>
                </a:solidFill>
              </a:rPr>
              <a:t>Loginom Company (ООО «Аналитические технологии») — российский разработчик аналитической low-code платформы Loginom с 30-летней историей. Специализируется на системах глубокого анализа данных: сбор, интеграция, очистка, прогнозирование и визуализация. Платформа внесена в реестр ЕРРП, признана лидером ETL/ELT-решений для enterprise. Среди клиентов — банки, ритейлеры, промышленные и государственные компании.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05840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Следующие шаги и контакты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685800" cy="685800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1887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34440" y="123444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433"/>
                </a:solidFill>
              </a:rPr>
              <a:t>Ответный звонок для уточнения деталей задачи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194560"/>
            <a:ext cx="685800" cy="685800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21945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234440" y="224028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433"/>
                </a:solidFill>
              </a:rPr>
              <a:t>Подготовка технического предложения (2 недели)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3200400"/>
            <a:ext cx="685800" cy="685800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32004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234440" y="324612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433"/>
                </a:solidFill>
              </a:rPr>
              <a:t>Согласование условий и подписание договора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4206240"/>
            <a:ext cx="685800" cy="685800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42062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234440" y="425196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433"/>
                </a:solidFill>
              </a:rPr>
              <a:t>Старт проекта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503920" y="1188720"/>
            <a:ext cx="3383280" cy="3931920"/>
          </a:xfrm>
          <a:prstGeom prst="rect">
            <a:avLst/>
          </a:prstGeom>
          <a:solidFill>
            <a:srgbClr val="1E2433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0" y="14173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Loginom Company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686800" y="2103120"/>
            <a:ext cx="3017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BA3B0"/>
                </a:solidFill>
              </a:rPr>
              <a:t>sales@loginom.ru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BA3B0"/>
                </a:solidFill>
              </a:rPr>
              <a:t>+7 (383) 206-09-40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BA3B0"/>
                </a:solidFill>
              </a:rPr>
              <a:t>loginom.ru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686800" y="3749040"/>
            <a:ext cx="2834640" cy="27432"/>
          </a:xfrm>
          <a:prstGeom prst="rect">
            <a:avLst/>
          </a:prstGeom>
          <a:solidFill>
            <a:srgbClr val="252B3B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0" y="388620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A3B0"/>
                </a:solidFill>
              </a:rPr>
              <a:t>Подготовлено для: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BA3B0"/>
                </a:solidFill>
              </a:rPr>
              <a:t>Алексей Петров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BA3B0"/>
                </a:solidFill>
              </a:rPr>
              <a:t>a.petrov@magnit.com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2026-05-12T11:02:24Z</dcterms:created>
  <dcterms:modified xsi:type="dcterms:W3CDTF">2026-05-12T11:02:24Z</dcterms:modified>
</cp:coreProperties>
</file>